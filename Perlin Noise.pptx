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499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DEE7-1974-A88D-8987-D91F9A5F2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B790A-F2AC-E1C6-7BA7-89C7F6D8F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4D9C9-B7C8-AD6B-DEDA-FCC25351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692BE-FD79-0292-D1F5-547E09BD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DCB9B-3EF4-8AA1-26C1-EC90BF60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6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9FBD-C0D1-A754-FC94-1C99E102D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BB9E1-DD6A-F05C-2388-FCD35BB4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17B43-433E-800D-A326-107EB435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C42B5-9E1E-7FE6-5F3D-D63911BB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FFFFA-5AC8-6194-35B2-9C29AD7E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8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7CCE-D67D-B1C6-A045-E60FE728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5655-B7EC-2D72-925E-A2B5B8558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682A3-FB62-B19B-1BDC-91C89863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C6D04-C9F6-2FDC-21B1-47A44DF9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91F4-B396-F3D2-8985-F17AD66A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6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4265-932E-810D-2823-DA6A52F4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DB213-F060-0BEF-D164-15119A753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8D0E3-74F0-2A73-ECAA-938A82E18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41EFE-0697-BA2C-9035-697D62C7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E0571-1158-96DF-8F6F-3B25CB82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FE318-EE07-9555-432D-ED7E87A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9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33FA-F179-95DB-A2E8-C7D2ED4F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E4520-AF9C-84E9-2240-EE36A6B0E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25092-AFB8-25B4-4EB4-A002E9D6F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63EF7-5B23-6910-109C-24754BE7F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C1C895-318B-C0F3-3354-2D4121C54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89A76F-786B-AA17-4C3A-3C9D2163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0114E-CE63-1412-1253-91CF87E3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122B9-C94D-B440-471C-B30C806E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1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7A05-91D5-BDBF-9129-20BAB059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65B33-1D8B-DB2E-37DB-CC09961B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F895A-1F14-D481-F59D-013330E8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9CA9B-2BCF-459F-F247-3AEFF074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9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D089C-3EB5-76B1-399A-F977BBCB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4F3AC-181E-0322-EAFB-E373F278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81A81-4B84-82A7-C21B-12B7D787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7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F38D-A5F7-3F2A-ABA0-1B786895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5203-7948-24AB-B8B1-D717B6557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F34A9-06E4-BBCB-7B9E-5025ABAF6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05497-0988-62F2-0CC9-8EA59DD2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A1E5C-C3F7-8722-A530-07E0836A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95DD7-B53B-D84E-D5D6-9961367C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57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0179-BDF1-9A40-700D-1285A272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E7123-A7BE-39E7-C729-1C9ADF13D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57D00-FA3B-5E46-EBF0-7AE2EE474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8518D-A4ED-494A-BC75-CF7859E3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CA8B2-F5E7-AE89-8131-138AA832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C7DA6-5EE5-8341-6034-BE4292A4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3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EC09-2FB7-8047-CCD7-730D3F15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D7D3B-B9D8-212B-04F8-12159B91E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0DA8-1869-9028-45E1-4BD38CD7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4C435-DAC3-21EC-EB10-71AEF26F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A32F3-0206-FD08-C000-CAD5EB41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76AF5-317C-CB80-301C-4493D76D9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DDFBE-701F-8AA3-5711-883311447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6061-B684-6E0D-C414-60BC8E76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01CB1-6807-1A15-2471-90357950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3D6CC-8212-FE6B-BC94-0438AB8A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4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CECBC-7073-7FBE-F88D-E72E22BB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687B2-F789-CC60-212E-489361931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945DD-83E3-FD28-D4FA-1A2A555AB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ABDAB-C7B1-4488-9926-D3810EFDA4E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31ED8-0281-6E54-22AB-E879C715F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B07B-0699-A12D-5B0D-293B15FAD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F5551-0208-4847-9786-B11F8E47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4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orage.googleapis.com/dapdxpscrfoere/grid-lines-transparent-background.html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wallpapers.com/funny-do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6C7B8-DBEF-A1F6-6EE4-9F20BBA46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0407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/>
              <a:t>Perlin Noise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DCB7-378E-67D1-7CD7-ABBBC308D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408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Judas Streeter</a:t>
            </a:r>
          </a:p>
        </p:txBody>
      </p:sp>
      <p:pic>
        <p:nvPicPr>
          <p:cNvPr id="5" name="Picture 4" descr="A black and white spotted background&#10;&#10;AI-generated content may be incorrect.">
            <a:extLst>
              <a:ext uri="{FF2B5EF4-FFF2-40B4-BE49-F238E27FC236}">
                <a16:creationId xmlns:a16="http://schemas.microsoft.com/office/drawing/2014/main" id="{ED585AE3-EA02-46F8-E037-F2E3A2625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"/>
          <a:stretch>
            <a:fillRect/>
          </a:stretch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4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1"/>
    </mc:Choice>
    <mc:Fallback xmlns="">
      <p:transition spd="slow" advTm="626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8C6B-FB6D-612A-A7AD-8D7F28762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28" y="264763"/>
            <a:ext cx="10515600" cy="1325563"/>
          </a:xfrm>
        </p:spPr>
        <p:txBody>
          <a:bodyPr/>
          <a:lstStyle/>
          <a:p>
            <a:r>
              <a:rPr lang="en-US" dirty="0"/>
              <a:t>Computer Image 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B1F6F-1016-E5E9-FCF8-783EC531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576" y="2071092"/>
            <a:ext cx="3944444" cy="41914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E43CEA-F72C-1E94-9BFD-70E91B2DD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395" r="23275"/>
          <a:stretch>
            <a:fillRect/>
          </a:stretch>
        </p:blipFill>
        <p:spPr>
          <a:xfrm>
            <a:off x="1004075" y="2317650"/>
            <a:ext cx="3712241" cy="3624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A708BD-3E71-2BE1-17DE-91480B154EE1}"/>
              </a:ext>
            </a:extLst>
          </p:cNvPr>
          <p:cNvCxnSpPr>
            <a:cxnSpLocks/>
          </p:cNvCxnSpPr>
          <p:nvPr/>
        </p:nvCxnSpPr>
        <p:spPr>
          <a:xfrm>
            <a:off x="889855" y="2210164"/>
            <a:ext cx="3952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9B1D91-AB1E-5CBA-367C-B1B961ECC81E}"/>
              </a:ext>
            </a:extLst>
          </p:cNvPr>
          <p:cNvCxnSpPr>
            <a:cxnSpLocks/>
          </p:cNvCxnSpPr>
          <p:nvPr/>
        </p:nvCxnSpPr>
        <p:spPr>
          <a:xfrm>
            <a:off x="889855" y="2191664"/>
            <a:ext cx="0" cy="3950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BC14BF-9763-E46B-FC44-2CE89676B4C0}"/>
              </a:ext>
            </a:extLst>
          </p:cNvPr>
          <p:cNvSpPr txBox="1"/>
          <p:nvPr/>
        </p:nvSpPr>
        <p:spPr>
          <a:xfrm>
            <a:off x="483461" y="1822334"/>
            <a:ext cx="81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(0, 0)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45BDB9-7B15-85EC-4D62-B34927ABD316}"/>
              </a:ext>
            </a:extLst>
          </p:cNvPr>
          <p:cNvSpPr txBox="1"/>
          <p:nvPr/>
        </p:nvSpPr>
        <p:spPr>
          <a:xfrm>
            <a:off x="4520172" y="5957327"/>
            <a:ext cx="81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(n, n)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A739754-F1B2-8D07-A809-A140A37B04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r="46983"/>
          <a:stretch>
            <a:fillRect/>
          </a:stretch>
        </p:blipFill>
        <p:spPr>
          <a:xfrm>
            <a:off x="1015625" y="2336979"/>
            <a:ext cx="3698511" cy="36010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0CFE695-4184-5861-862E-C276F145B603}"/>
              </a:ext>
            </a:extLst>
          </p:cNvPr>
          <p:cNvSpPr txBox="1"/>
          <p:nvPr/>
        </p:nvSpPr>
        <p:spPr>
          <a:xfrm>
            <a:off x="9602714" y="2071092"/>
            <a:ext cx="1987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CMYK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(+ a few more)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E706AD-9F06-1CD8-55EF-ACD8A044062A}"/>
              </a:ext>
            </a:extLst>
          </p:cNvPr>
          <p:cNvSpPr txBox="1"/>
          <p:nvPr/>
        </p:nvSpPr>
        <p:spPr>
          <a:xfrm>
            <a:off x="730353" y="1214594"/>
            <a:ext cx="796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images are made up of </a:t>
            </a:r>
            <a:r>
              <a:rPr lang="en-US" b="1" dirty="0"/>
              <a:t>pixels</a:t>
            </a:r>
            <a:r>
              <a:rPr lang="en-US" dirty="0"/>
              <a:t> represented by</a:t>
            </a:r>
            <a:r>
              <a:rPr lang="en-US" b="1" dirty="0"/>
              <a:t> vectors </a:t>
            </a:r>
            <a:r>
              <a:rPr lang="en-US" dirty="0"/>
              <a:t>in a </a:t>
            </a:r>
            <a:r>
              <a:rPr lang="en-US" b="1" dirty="0"/>
              <a:t>raster grid</a:t>
            </a:r>
          </a:p>
        </p:txBody>
      </p:sp>
    </p:spTree>
    <p:extLst>
      <p:ext uri="{BB962C8B-B14F-4D97-AF65-F5344CB8AC3E}">
        <p14:creationId xmlns:p14="http://schemas.microsoft.com/office/powerpoint/2010/main" val="127790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58"/>
    </mc:Choice>
    <mc:Fallback xmlns="">
      <p:transition spd="slow" advTm="316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3D75-FED1-F2FB-A87B-6D4F751E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7EA88-584C-F883-1381-C2D432704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Random, organic, natural</a:t>
            </a:r>
          </a:p>
        </p:txBody>
      </p:sp>
      <p:pic>
        <p:nvPicPr>
          <p:cNvPr id="4" name="Picture 3" descr="How Minecraft generates Worlds you want to explore">
            <a:extLst>
              <a:ext uri="{FF2B5EF4-FFF2-40B4-BE49-F238E27FC236}">
                <a16:creationId xmlns:a16="http://schemas.microsoft.com/office/drawing/2014/main" id="{FB20F52F-835D-36F4-A7B5-7FAA742C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418" y="2058782"/>
            <a:ext cx="5615826" cy="3242471"/>
          </a:xfrm>
          <a:prstGeom prst="rect">
            <a:avLst/>
          </a:prstGeom>
        </p:spPr>
      </p:pic>
      <p:pic>
        <p:nvPicPr>
          <p:cNvPr id="7" name="Picture 6" descr="What Is Gaussian Noise and How to Get Rid of It?">
            <a:extLst>
              <a:ext uri="{FF2B5EF4-FFF2-40B4-BE49-F238E27FC236}">
                <a16:creationId xmlns:a16="http://schemas.microsoft.com/office/drawing/2014/main" id="{127C0A39-AE40-C701-FA64-939CBE9B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56" y="1936759"/>
            <a:ext cx="74676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6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7E30-04AB-19B3-8C78-6F0E9FFA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</a:p>
        </p:txBody>
      </p:sp>
      <p:pic>
        <p:nvPicPr>
          <p:cNvPr id="6" name="Content Placeholder 5" descr="Value noise generator — noise_value • ambient">
            <a:extLst>
              <a:ext uri="{FF2B5EF4-FFF2-40B4-BE49-F238E27FC236}">
                <a16:creationId xmlns:a16="http://schemas.microsoft.com/office/drawing/2014/main" id="{9C1EC0FD-3A40-1653-E51D-54EF6371B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4844" y="1690688"/>
            <a:ext cx="4157200" cy="415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E02B55-E00A-CA2F-9BAA-7E6CA0D36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956" y="1690688"/>
            <a:ext cx="4157200" cy="41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8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in a blue shirt&#10;&#10;AI-generated content may be incorrect.">
            <a:extLst>
              <a:ext uri="{FF2B5EF4-FFF2-40B4-BE49-F238E27FC236}">
                <a16:creationId xmlns:a16="http://schemas.microsoft.com/office/drawing/2014/main" id="{6707CC5C-9676-771B-DA05-69986DB30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" r="6056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5EB32-AF76-C083-DB6A-DBA730D0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Ken Perlin, creator of Perlin Noise</a:t>
            </a:r>
            <a:b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Professor of Computer Science at NYU </a:t>
            </a:r>
            <a:endParaRPr lang="en-US" sz="36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blurry image of a square&#10;&#10;AI-generated content may be incorrect.">
            <a:extLst>
              <a:ext uri="{FF2B5EF4-FFF2-40B4-BE49-F238E27FC236}">
                <a16:creationId xmlns:a16="http://schemas.microsoft.com/office/drawing/2014/main" id="{E637B740-6FE5-3C54-98C4-C8545AC12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" r="9834" b="-1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  <p:pic>
        <p:nvPicPr>
          <p:cNvPr id="4" name="Graphic 3" descr="Thought bubble with solid fill">
            <a:extLst>
              <a:ext uri="{FF2B5EF4-FFF2-40B4-BE49-F238E27FC236}">
                <a16:creationId xmlns:a16="http://schemas.microsoft.com/office/drawing/2014/main" id="{C7241448-AFCD-8D65-6811-5405234F3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610423">
            <a:off x="10291260" y="8431"/>
            <a:ext cx="2062428" cy="2062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A7E5A9-3ED2-A471-A4E0-A7FAB8FB66F9}"/>
              </a:ext>
            </a:extLst>
          </p:cNvPr>
          <p:cNvSpPr txBox="1"/>
          <p:nvPr/>
        </p:nvSpPr>
        <p:spPr>
          <a:xfrm rot="1062083">
            <a:off x="10778062" y="583816"/>
            <a:ext cx="1344794" cy="66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</a:t>
            </a:r>
            <a:r>
              <a:rPr lang="en-US" dirty="0" err="1"/>
              <a:t>gotta</a:t>
            </a:r>
            <a:r>
              <a:rPr lang="en-US" dirty="0"/>
              <a:t> be vectors!</a:t>
            </a:r>
          </a:p>
        </p:txBody>
      </p:sp>
    </p:spTree>
    <p:extLst>
      <p:ext uri="{BB962C8B-B14F-4D97-AF65-F5344CB8AC3E}">
        <p14:creationId xmlns:p14="http://schemas.microsoft.com/office/powerpoint/2010/main" val="124194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25"/>
    </mc:Choice>
    <mc:Fallback xmlns="">
      <p:transition spd="slow" advTm="1552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8C6B-FB6D-612A-A7AD-8D7F2876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the Algorithm</a:t>
            </a:r>
          </a:p>
        </p:txBody>
      </p:sp>
      <p:pic>
        <p:nvPicPr>
          <p:cNvPr id="5" name="Content Placeholder 4" descr="A grid with red dots and a square with green lines&#10;&#10;AI-generated content may be incorrect.">
            <a:extLst>
              <a:ext uri="{FF2B5EF4-FFF2-40B4-BE49-F238E27FC236}">
                <a16:creationId xmlns:a16="http://schemas.microsoft.com/office/drawing/2014/main" id="{022A68B8-ECCC-891E-7454-7FF95B722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9" t="15402" r="3724" b="14123"/>
          <a:stretch>
            <a:fillRect/>
          </a:stretch>
        </p:blipFill>
        <p:spPr>
          <a:xfrm>
            <a:off x="838200" y="1291565"/>
            <a:ext cx="4855750" cy="2644220"/>
          </a:xfrm>
        </p:spPr>
      </p:pic>
      <p:pic>
        <p:nvPicPr>
          <p:cNvPr id="7" name="Picture 6" descr="A screenshot of a grid&#10;&#10;AI-generated content may be incorrect.">
            <a:extLst>
              <a:ext uri="{FF2B5EF4-FFF2-40B4-BE49-F238E27FC236}">
                <a16:creationId xmlns:a16="http://schemas.microsoft.com/office/drawing/2014/main" id="{4854BAE6-B252-65B7-FD9C-EC1B5C2C8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3" r="-632" b="11920"/>
          <a:stretch>
            <a:fillRect/>
          </a:stretch>
        </p:blipFill>
        <p:spPr>
          <a:xfrm>
            <a:off x="717655" y="3774318"/>
            <a:ext cx="5257800" cy="2872504"/>
          </a:xfrm>
          <a:prstGeom prst="rect">
            <a:avLst/>
          </a:prstGeom>
        </p:spPr>
      </p:pic>
      <p:pic>
        <p:nvPicPr>
          <p:cNvPr id="9" name="Picture 8" descr="A grid with arrows and lines&#10;&#10;AI-generated content may be incorrect.">
            <a:extLst>
              <a:ext uri="{FF2B5EF4-FFF2-40B4-BE49-F238E27FC236}">
                <a16:creationId xmlns:a16="http://schemas.microsoft.com/office/drawing/2014/main" id="{454AA429-369A-3680-A2D9-5DF72C7D4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1" t="13192" r="22066" b="15294"/>
          <a:stretch>
            <a:fillRect/>
          </a:stretch>
        </p:blipFill>
        <p:spPr>
          <a:xfrm>
            <a:off x="6309180" y="4079586"/>
            <a:ext cx="2353645" cy="21754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A545797-4EE9-C0C5-4E21-A949A829FB90}"/>
              </a:ext>
            </a:extLst>
          </p:cNvPr>
          <p:cNvSpPr/>
          <p:nvPr/>
        </p:nvSpPr>
        <p:spPr>
          <a:xfrm>
            <a:off x="4929809" y="3023796"/>
            <a:ext cx="407504" cy="453110"/>
          </a:xfrm>
          <a:prstGeom prst="rect">
            <a:avLst/>
          </a:prstGeom>
          <a:solidFill>
            <a:schemeClr val="accent6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4B0C-CF48-213A-FC31-9F77F2D16B94}"/>
              </a:ext>
            </a:extLst>
          </p:cNvPr>
          <p:cNvSpPr/>
          <p:nvPr/>
        </p:nvSpPr>
        <p:spPr>
          <a:xfrm>
            <a:off x="1201304" y="4351789"/>
            <a:ext cx="1760745" cy="1717562"/>
          </a:xfrm>
          <a:prstGeom prst="rect">
            <a:avLst/>
          </a:prstGeom>
          <a:solidFill>
            <a:schemeClr val="accent6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A62B4A-4B45-D764-2653-458F612AE8DF}"/>
              </a:ext>
            </a:extLst>
          </p:cNvPr>
          <p:cNvSpPr/>
          <p:nvPr/>
        </p:nvSpPr>
        <p:spPr>
          <a:xfrm>
            <a:off x="3675043" y="4351789"/>
            <a:ext cx="1760745" cy="1717562"/>
          </a:xfrm>
          <a:prstGeom prst="rect">
            <a:avLst/>
          </a:prstGeom>
          <a:solidFill>
            <a:schemeClr val="accent6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28F33A-4D16-7C7A-384B-758B7F785D1C}"/>
              </a:ext>
            </a:extLst>
          </p:cNvPr>
          <p:cNvSpPr/>
          <p:nvPr/>
        </p:nvSpPr>
        <p:spPr>
          <a:xfrm>
            <a:off x="6768607" y="4440872"/>
            <a:ext cx="1434790" cy="1452878"/>
          </a:xfrm>
          <a:prstGeom prst="rect">
            <a:avLst/>
          </a:prstGeom>
          <a:solidFill>
            <a:schemeClr val="accent6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20C7A-892B-E80E-04D1-75C3E9FCA529}"/>
              </a:ext>
            </a:extLst>
          </p:cNvPr>
          <p:cNvSpPr/>
          <p:nvPr/>
        </p:nvSpPr>
        <p:spPr>
          <a:xfrm>
            <a:off x="8162693" y="1523062"/>
            <a:ext cx="1223319" cy="667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5FE465-5BDE-F20E-F00F-45C650B2DE08}"/>
              </a:ext>
            </a:extLst>
          </p:cNvPr>
          <p:cNvCxnSpPr>
            <a:cxnSpLocks/>
          </p:cNvCxnSpPr>
          <p:nvPr/>
        </p:nvCxnSpPr>
        <p:spPr>
          <a:xfrm>
            <a:off x="7030995" y="1690688"/>
            <a:ext cx="11316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A8150A-B5A9-CE8B-0441-B1BB023BA6B4}"/>
              </a:ext>
            </a:extLst>
          </p:cNvPr>
          <p:cNvSpPr txBox="1"/>
          <p:nvPr/>
        </p:nvSpPr>
        <p:spPr>
          <a:xfrm>
            <a:off x="7231518" y="1386508"/>
            <a:ext cx="730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FFA537-03B8-607F-8ADD-085B1A8A59D3}"/>
              </a:ext>
            </a:extLst>
          </p:cNvPr>
          <p:cNvCxnSpPr>
            <a:cxnSpLocks/>
          </p:cNvCxnSpPr>
          <p:nvPr/>
        </p:nvCxnSpPr>
        <p:spPr>
          <a:xfrm>
            <a:off x="7030995" y="2063578"/>
            <a:ext cx="11316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4B250D-52C6-F8AD-142A-46AA0B1A685F}"/>
              </a:ext>
            </a:extLst>
          </p:cNvPr>
          <p:cNvSpPr txBox="1"/>
          <p:nvPr/>
        </p:nvSpPr>
        <p:spPr>
          <a:xfrm>
            <a:off x="6973355" y="1755841"/>
            <a:ext cx="1189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Grid poin</a:t>
            </a:r>
            <a:r>
              <a:rPr lang="en-US" dirty="0"/>
              <a:t>t</a:t>
            </a:r>
            <a:endParaRPr lang="en-US" sz="18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03E2F1-FD24-6C14-EC49-2BF792DE2C72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9386012" y="1856693"/>
            <a:ext cx="11303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0CD0280-CC6D-C562-B20E-3DE6FD53D38D}"/>
              </a:ext>
            </a:extLst>
          </p:cNvPr>
          <p:cNvSpPr txBox="1"/>
          <p:nvPr/>
        </p:nvSpPr>
        <p:spPr>
          <a:xfrm>
            <a:off x="9339515" y="1565178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 Vector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036463-FCAC-8761-3213-4525469B0ECE}"/>
              </a:ext>
            </a:extLst>
          </p:cNvPr>
          <p:cNvSpPr txBox="1"/>
          <p:nvPr/>
        </p:nvSpPr>
        <p:spPr>
          <a:xfrm>
            <a:off x="6718794" y="2285132"/>
            <a:ext cx="42162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pixel: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the dot products between the 4 corner vectors and the pixel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the average between all 4 dot products (interpolation)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Map the resulting vector to a color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7BB6C8D-F5B5-3295-CC46-AD4AED322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252" y="4188768"/>
            <a:ext cx="2097683" cy="222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9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58"/>
    </mc:Choice>
    <mc:Fallback xmlns="">
      <p:transition spd="slow" advTm="3165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30BE-E493-89CC-4A38-DAA8E9AE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141711"/>
            <a:ext cx="9730740" cy="1144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Tests and Early Attempts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olorful pattern with lines&#10;&#10;AI-generated content may be incorrect.">
            <a:extLst>
              <a:ext uri="{FF2B5EF4-FFF2-40B4-BE49-F238E27FC236}">
                <a16:creationId xmlns:a16="http://schemas.microsoft.com/office/drawing/2014/main" id="{569DBD1D-F89D-519C-E4BB-FE34D09BB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2"/>
          <a:stretch>
            <a:fillRect/>
          </a:stretch>
        </p:blipFill>
        <p:spPr>
          <a:xfrm>
            <a:off x="900978" y="2719902"/>
            <a:ext cx="2555127" cy="2444182"/>
          </a:xfrm>
          <a:prstGeom prst="rect">
            <a:avLst/>
          </a:prstGeom>
        </p:spPr>
      </p:pic>
      <p:pic>
        <p:nvPicPr>
          <p:cNvPr id="5" name="Content Placeholder 4" descr="A black and white pattern&#10;&#10;AI-generated content may be incorrect.">
            <a:extLst>
              <a:ext uri="{FF2B5EF4-FFF2-40B4-BE49-F238E27FC236}">
                <a16:creationId xmlns:a16="http://schemas.microsoft.com/office/drawing/2014/main" id="{C2762F11-B601-4BE5-1DE7-B87772281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8"/>
          <a:stretch>
            <a:fillRect/>
          </a:stretch>
        </p:blipFill>
        <p:spPr>
          <a:xfrm>
            <a:off x="3516494" y="2719902"/>
            <a:ext cx="2551560" cy="2444182"/>
          </a:xfrm>
          <a:prstGeom prst="rect">
            <a:avLst/>
          </a:prstGeom>
        </p:spPr>
      </p:pic>
      <p:pic>
        <p:nvPicPr>
          <p:cNvPr id="9" name="Picture 8" descr="A blurry image of a black and white checkered surface&#10;&#10;AI-generated content may be incorrect.">
            <a:extLst>
              <a:ext uri="{FF2B5EF4-FFF2-40B4-BE49-F238E27FC236}">
                <a16:creationId xmlns:a16="http://schemas.microsoft.com/office/drawing/2014/main" id="{D0088B5C-AB55-8B61-999F-8A55977D08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2"/>
          <a:stretch>
            <a:fillRect/>
          </a:stretch>
        </p:blipFill>
        <p:spPr>
          <a:xfrm>
            <a:off x="6126194" y="2719902"/>
            <a:ext cx="2555127" cy="2444181"/>
          </a:xfrm>
          <a:prstGeom prst="rect">
            <a:avLst/>
          </a:prstGeom>
        </p:spPr>
      </p:pic>
      <p:pic>
        <p:nvPicPr>
          <p:cNvPr id="7" name="Picture 6" descr="A black and white spotted background&#10;&#10;AI-generated content may be incorrect.">
            <a:extLst>
              <a:ext uri="{FF2B5EF4-FFF2-40B4-BE49-F238E27FC236}">
                <a16:creationId xmlns:a16="http://schemas.microsoft.com/office/drawing/2014/main" id="{BCE19EDB-D180-FBBC-43FC-4EA825514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"/>
          <a:stretch>
            <a:fillRect/>
          </a:stretch>
        </p:blipFill>
        <p:spPr>
          <a:xfrm>
            <a:off x="8739462" y="2719903"/>
            <a:ext cx="2551560" cy="244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2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80"/>
    </mc:Choice>
    <mc:Fallback xmlns="">
      <p:transition spd="slow" advTm="1258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0B0B-698D-96E0-66CC-0ED9398D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141711"/>
            <a:ext cx="9730740" cy="1144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Tests and Early Attempts pt. 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een and blue pattern&#10;&#10;AI-generated content may be incorrect.">
            <a:extLst>
              <a:ext uri="{FF2B5EF4-FFF2-40B4-BE49-F238E27FC236}">
                <a16:creationId xmlns:a16="http://schemas.microsoft.com/office/drawing/2014/main" id="{F9D05C6C-DE9F-FBF1-E6B1-25AB7152E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3" b="1620"/>
          <a:stretch>
            <a:fillRect/>
          </a:stretch>
        </p:blipFill>
        <p:spPr>
          <a:xfrm>
            <a:off x="900978" y="2719902"/>
            <a:ext cx="2555127" cy="2444182"/>
          </a:xfrm>
          <a:prstGeom prst="rect">
            <a:avLst/>
          </a:prstGeom>
        </p:spPr>
      </p:pic>
      <p:pic>
        <p:nvPicPr>
          <p:cNvPr id="5" name="Content Placeholder 4" descr="A colorful background with a few shapes&#10;&#10;AI-generated content may be incorrect.">
            <a:extLst>
              <a:ext uri="{FF2B5EF4-FFF2-40B4-BE49-F238E27FC236}">
                <a16:creationId xmlns:a16="http://schemas.microsoft.com/office/drawing/2014/main" id="{B5ABC1F9-7F13-A964-7E48-B3F19B35A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"/>
          <a:stretch>
            <a:fillRect/>
          </a:stretch>
        </p:blipFill>
        <p:spPr>
          <a:xfrm>
            <a:off x="3516494" y="2719902"/>
            <a:ext cx="2551560" cy="2444182"/>
          </a:xfrm>
          <a:prstGeom prst="rect">
            <a:avLst/>
          </a:prstGeom>
        </p:spPr>
      </p:pic>
      <p:pic>
        <p:nvPicPr>
          <p:cNvPr id="9" name="Picture 8" descr="A blue and green pattern&#10;&#10;AI-generated content may be incorrect.">
            <a:extLst>
              <a:ext uri="{FF2B5EF4-FFF2-40B4-BE49-F238E27FC236}">
                <a16:creationId xmlns:a16="http://schemas.microsoft.com/office/drawing/2014/main" id="{FDCDF95E-7A13-15F5-E0AA-27FB0C551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3" r="-10" b="270"/>
          <a:stretch>
            <a:fillRect/>
          </a:stretch>
        </p:blipFill>
        <p:spPr>
          <a:xfrm>
            <a:off x="6126194" y="2719902"/>
            <a:ext cx="2555127" cy="2444181"/>
          </a:xfrm>
          <a:prstGeom prst="rect">
            <a:avLst/>
          </a:prstGeom>
        </p:spPr>
      </p:pic>
      <p:pic>
        <p:nvPicPr>
          <p:cNvPr id="7" name="Picture 6" descr="A colorful pattern with different colors&#10;&#10;AI-generated content may be incorrect.">
            <a:extLst>
              <a:ext uri="{FF2B5EF4-FFF2-40B4-BE49-F238E27FC236}">
                <a16:creationId xmlns:a16="http://schemas.microsoft.com/office/drawing/2014/main" id="{2FA6104C-94B7-34A1-F1D7-528203F0D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210"/>
          <a:stretch>
            <a:fillRect/>
          </a:stretch>
        </p:blipFill>
        <p:spPr>
          <a:xfrm>
            <a:off x="8739462" y="2719903"/>
            <a:ext cx="2551560" cy="244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9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24"/>
    </mc:Choice>
    <mc:Fallback xmlns="">
      <p:transition spd="slow" advTm="1612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7FA1F7A-1BF8-16BC-F4BF-AF3BD1DC5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83" y="533320"/>
            <a:ext cx="2737634" cy="2737634"/>
          </a:xfrm>
          <a:prstGeom prst="rect">
            <a:avLst/>
          </a:prstGeom>
        </p:spPr>
      </p:pic>
      <p:pic>
        <p:nvPicPr>
          <p:cNvPr id="9" name="Picture 8" descr="A map of a river&#10;&#10;AI-generated content may be incorrect.">
            <a:extLst>
              <a:ext uri="{FF2B5EF4-FFF2-40B4-BE49-F238E27FC236}">
                <a16:creationId xmlns:a16="http://schemas.microsoft.com/office/drawing/2014/main" id="{23985CCA-AD16-30FD-9207-506A6D238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067" y="533319"/>
            <a:ext cx="2737634" cy="2737634"/>
          </a:xfrm>
          <a:prstGeom prst="rect">
            <a:avLst/>
          </a:prstGeom>
        </p:spPr>
      </p:pic>
      <p:pic>
        <p:nvPicPr>
          <p:cNvPr id="11" name="Picture 10" descr="A colorful pattern with lines&#10;&#10;AI-generated content may be incorrect.">
            <a:extLst>
              <a:ext uri="{FF2B5EF4-FFF2-40B4-BE49-F238E27FC236}">
                <a16:creationId xmlns:a16="http://schemas.microsoft.com/office/drawing/2014/main" id="{E3B2D9EB-6C0E-8DEA-8D3E-923ABE288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067" y="3585413"/>
            <a:ext cx="2737634" cy="2737634"/>
          </a:xfrm>
          <a:prstGeom prst="rect">
            <a:avLst/>
          </a:prstGeom>
        </p:spPr>
      </p:pic>
      <p:pic>
        <p:nvPicPr>
          <p:cNvPr id="13" name="Picture 12" descr="A colorful pattern with lines&#10;&#10;AI-generated content may be incorrect.">
            <a:extLst>
              <a:ext uri="{FF2B5EF4-FFF2-40B4-BE49-F238E27FC236}">
                <a16:creationId xmlns:a16="http://schemas.microsoft.com/office/drawing/2014/main" id="{CF4B4C43-4184-7196-4407-F2279F1B8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99" y="533320"/>
            <a:ext cx="2737633" cy="2737633"/>
          </a:xfrm>
          <a:prstGeom prst="rect">
            <a:avLst/>
          </a:prstGeom>
        </p:spPr>
      </p:pic>
      <p:pic>
        <p:nvPicPr>
          <p:cNvPr id="15" name="Picture 14" descr="A colorful pattern with lines and dots&#10;&#10;AI-generated content may be incorrect.">
            <a:extLst>
              <a:ext uri="{FF2B5EF4-FFF2-40B4-BE49-F238E27FC236}">
                <a16:creationId xmlns:a16="http://schemas.microsoft.com/office/drawing/2014/main" id="{0F5621B1-E30D-E84F-9FBF-E674E9EC73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98" y="3585413"/>
            <a:ext cx="2737633" cy="2737633"/>
          </a:xfrm>
          <a:prstGeom prst="rect">
            <a:avLst/>
          </a:prstGeom>
        </p:spPr>
      </p:pic>
      <p:pic>
        <p:nvPicPr>
          <p:cNvPr id="17" name="Picture 16" descr="A map of a river&#10;&#10;AI-generated content may be incorrect.">
            <a:extLst>
              <a:ext uri="{FF2B5EF4-FFF2-40B4-BE49-F238E27FC236}">
                <a16:creationId xmlns:a16="http://schemas.microsoft.com/office/drawing/2014/main" id="{D3425CF7-01D7-B5DA-F34A-FF55022263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83" y="3585413"/>
            <a:ext cx="2737634" cy="273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28"/>
    </mc:Choice>
    <mc:Fallback xmlns="">
      <p:transition spd="slow" advTm="2382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E64E-7644-8971-D322-9286331F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797" y="2766218"/>
            <a:ext cx="2646405" cy="132556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44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123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Perlin Noise</vt:lpstr>
      <vt:lpstr>Computer Image Processing</vt:lpstr>
      <vt:lpstr>Noise Generation</vt:lpstr>
      <vt:lpstr>Value Noise</vt:lpstr>
      <vt:lpstr>Ken Perlin, creator of Perlin Noise Professor of Computer Science at NYU </vt:lpstr>
      <vt:lpstr>Explaining the Algorithm</vt:lpstr>
      <vt:lpstr>Tests and Early Attempts</vt:lpstr>
      <vt:lpstr>Tests and Early Attempts pt. 2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Judas Streeter</dc:creator>
  <cp:lastModifiedBy>Judas Streeter</cp:lastModifiedBy>
  <cp:revision>3</cp:revision>
  <dcterms:created xsi:type="dcterms:W3CDTF">2025-12-16T17:58:58Z</dcterms:created>
  <dcterms:modified xsi:type="dcterms:W3CDTF">2026-07-24T17:14:30Z</dcterms:modified>
</cp:coreProperties>
</file>